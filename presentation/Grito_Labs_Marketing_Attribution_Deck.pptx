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3B82F6"/>
                </a:solidFill>
              </a:defRPr>
            </a:pPr>
            <a:r>
              <a:t>MARKETING ANALYTICS &amp; ATTRIBUTION FRAMEWORK</a:t>
            </a:r>
          </a:p>
          <a:p>
            <a:pPr>
              <a:spcAft>
                <a:spcPts val="1600"/>
              </a:spcAft>
              <a:defRPr sz="3600" b="1">
                <a:solidFill>
                  <a:srgbClr val="F8FAFC"/>
                </a:solidFill>
              </a:defRPr>
            </a:pPr>
            <a:r>
              <a:t>Multi-Channel Marketing Attribution</a:t>
            </a:r>
            <a:br/>
            <a:r>
              <a:t>&amp; ROI Optimization Framework</a:t>
            </a:r>
          </a:p>
          <a:p>
            <a:pPr>
              <a:spcAft>
                <a:spcPts val="2800"/>
              </a:spcAft>
              <a:defRPr sz="1500">
                <a:solidFill>
                  <a:srgbClr val="94A3B8"/>
                </a:solidFill>
              </a:defRPr>
            </a:pPr>
            <a:r>
              <a:t>Evaluating Cross-Channel Customer Journeys, Algorithmic Markov Attribution, and Capital Reallocation Strategy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Prepared for Grito Labs Executive Leadership | H1 2026 Analytical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GRITO LABS | MARKETING ANALYTICS &amp; ATTRIBUTION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Executive Summary: The Last-Touch Fallacy &amp; Capital 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560320" cy="1280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2377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TOTAL MEDIA SPEND</a:t>
            </a:r>
          </a:p>
          <a:p>
            <a:pPr>
              <a:defRPr sz="2000" b="1">
                <a:solidFill>
                  <a:srgbClr val="1E293B"/>
                </a:solidFill>
              </a:defRPr>
            </a:pPr>
            <a:r>
              <a:t>$262,896.68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Across 6 Months (15 Campaigns)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1280160"/>
            <a:ext cx="2560320" cy="1280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0440" y="1371600"/>
            <a:ext cx="2377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NET TUITION REVENUE</a:t>
            </a:r>
          </a:p>
          <a:p>
            <a:pPr>
              <a:defRPr sz="2000" b="1">
                <a:solidFill>
                  <a:srgbClr val="3B82F6"/>
                </a:solidFill>
              </a:defRPr>
            </a:pPr>
            <a:r>
              <a:t>$1,646,260.00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1,385 Enrolled Students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280160"/>
            <a:ext cx="2560320" cy="1280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371600"/>
            <a:ext cx="2377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BLENDED ROAS</a:t>
            </a:r>
          </a:p>
          <a:p>
            <a:pPr>
              <a:defRPr sz="2000" b="1">
                <a:solidFill>
                  <a:srgbClr val="10B981"/>
                </a:solidFill>
              </a:defRPr>
            </a:pPr>
            <a:r>
              <a:t>6.26x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Total Net Tuition / Media Spend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23960" y="1280160"/>
            <a:ext cx="2560320" cy="1280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5400" y="1371600"/>
            <a:ext cx="2377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PROJECTED UPLIFT</a:t>
            </a:r>
          </a:p>
          <a:p>
            <a:pPr>
              <a:defRPr sz="2000" b="1">
                <a:solidFill>
                  <a:srgbClr val="10B981"/>
                </a:solidFill>
              </a:defRPr>
            </a:pPr>
            <a:r>
              <a:t>+$74,941.99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With $0 Extra Media Investment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834640"/>
            <a:ext cx="1069848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1. Severe Last-Touch Attribution Bias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Standard Last-Touch Attribution (LTA) over-allocates +48% of commercial credit ($589.7k vs $395.2k) to Google Search and Direct. This misleads leadership into believing discovery channels (Meta, YouTube) are unviable, when in fact they originate 64% of all converting paths.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069080"/>
            <a:ext cx="1069848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2. Email Marketing is the Primary ROI Driver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Email nurture sequences contribute $250.4k in algorithmic revenue at a marginal media spend of just $5.2k (ROAS: 47.98x). Email holds a critical 0.2765 Markov Removal Effect, acting as the indispensable mid-funnel converter of warm leads.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03520"/>
            <a:ext cx="1069848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949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3. High-Cost Capital Drain on LinkedIn Ads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LinkedIn Ads absorbs $47.5k in spend but yields only 86.6 Markov conversions ($547.62 CAC vs $245.03 on Google Search). Shifting $19.0k away from LinkedIn into Email, YouTube, and Google Search unlocks +63.5 incremental students and +$74.9k revenue.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GRITO LABS | MARKETING ANALYTICS &amp; ATTRIBUTION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Business Context: Grito Labs Portfolio &amp; Decision Funnel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474720" cy="5029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310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Data Analytics Accelerator</a:t>
            </a:r>
          </a:p>
          <a:p>
            <a:pPr>
              <a:spcAft>
                <a:spcPts val="1000"/>
              </a:spcAft>
              <a:defRPr sz="950">
                <a:solidFill>
                  <a:srgbClr val="94A3B8"/>
                </a:solidFill>
              </a:defRPr>
            </a:pPr>
            <a:r>
              <a:t>12 Weeks | SQL, Python, Power BI, RCA</a:t>
            </a:r>
          </a:p>
          <a:p>
            <a:pPr>
              <a:spcAft>
                <a:spcPts val="1400"/>
              </a:spcAft>
              <a:defRPr sz="1100" b="1">
                <a:solidFill>
                  <a:srgbClr val="3B82F6"/>
                </a:solidFill>
              </a:defRPr>
            </a:pPr>
            <a:r>
              <a:t>$1,250 Base Fee | 45% of Enrollments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Target: Early-career freshers &amp; career switchers seeking job-ready technical agility.</a:t>
            </a:r>
            <a:br/>
            <a:r>
              <a:t>• High discovery via Meta Reels &amp; YouTube Crash Courses.</a:t>
            </a:r>
            <a:br/>
            <a:r>
              <a:t>• Requires hands-on curriculum proof and alumni outcome transparency.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1280160"/>
            <a:ext cx="3474720" cy="5029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463040"/>
            <a:ext cx="310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Business Analytics &amp; RCA Masterclass</a:t>
            </a:r>
          </a:p>
          <a:p>
            <a:pPr>
              <a:spcAft>
                <a:spcPts val="1000"/>
              </a:spcAft>
              <a:defRPr sz="950">
                <a:solidFill>
                  <a:srgbClr val="94A3B8"/>
                </a:solidFill>
              </a:defRPr>
            </a:pPr>
            <a:r>
              <a:t>8 Weeks | Root Cause Analysis &amp; Tableau</a:t>
            </a:r>
          </a:p>
          <a:p>
            <a:pPr>
              <a:spcAft>
                <a:spcPts val="1400"/>
              </a:spcAft>
              <a:defRPr sz="1100" b="1">
                <a:solidFill>
                  <a:srgbClr val="3B82F6"/>
                </a:solidFill>
              </a:defRPr>
            </a:pPr>
            <a:r>
              <a:t>$950 Base Fee | 35% of Enrollments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Target: Working associates and business operators aiming for senior BI roles.</a:t>
            </a:r>
            <a:br/>
            <a:r>
              <a:t>• Decision cycle: 12-18 days with 3+ touchpoints.</a:t>
            </a:r>
            <a:br/>
            <a:r>
              <a:t>• High conversion via Sunday Masterclass email webinars.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80" y="1280160"/>
            <a:ext cx="3474720" cy="5029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463040"/>
            <a:ext cx="310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Enterprise AI &amp; BI Fellowship</a:t>
            </a:r>
          </a:p>
          <a:p>
            <a:pPr>
              <a:spcAft>
                <a:spcPts val="1000"/>
              </a:spcAft>
              <a:defRPr sz="950">
                <a:solidFill>
                  <a:srgbClr val="94A3B8"/>
                </a:solidFill>
              </a:defRPr>
            </a:pPr>
            <a:r>
              <a:t>16 Weeks | Advanced GenAI &amp; MLOps</a:t>
            </a:r>
          </a:p>
          <a:p>
            <a:pPr>
              <a:spcAft>
                <a:spcPts val="1400"/>
              </a:spcAft>
              <a:defRPr sz="1100" b="1">
                <a:solidFill>
                  <a:srgbClr val="3B82F6"/>
                </a:solidFill>
              </a:defRPr>
            </a:pPr>
            <a:r>
              <a:t>$1,850 Base Fee | 20% of Enrollments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Target: Senior technical professionals &amp; enterprise sponsored candidates.</a:t>
            </a:r>
            <a:br/>
            <a:r>
              <a:t>• Highest AOV product ($1,620 net tuition).</a:t>
            </a:r>
            <a:br/>
            <a:r>
              <a:t>• Highest reliance on brand credibility and peer referrals.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GRITO LABS | MARKETING ANALYTICS &amp; ATTRIBUTION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Flaw of Heuristics: Single-Touch vs Multi-Touch Reality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212080" cy="50292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43F5E"/>
                </a:solidFill>
              </a:defRPr>
            </a:pPr>
            <a:r>
              <a:t>THE DANGERS OF LAST-TOUCH ATTRIBUTION (LTA)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100% Conversion Credit to Closing Click: Allocates all value to Google Search or Direct navigation, treating them as sole conversion drivers.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Systematic Defunding of Discovery Channels: Top-of-funnel channels (YouTube Ads, Meta Ads) look unprofitable (ROAS &lt; 1.0x under LTA), leading CMOs to slash awareness budgets.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Catastrophic Delayed Pipeline Collapse: When awareness spend is cut, prospective student discovery dries up; total conversions collapse 4-6 weeks later.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Zero Credit to Mid-Funnel Nurture: Email Marketing receives 0 credit in First-Touch and gets discounted in single-touch models despite nurturing leads for weeks.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280160"/>
            <a:ext cx="521208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82F6"/>
                </a:solidFill>
              </a:defRPr>
            </a:pPr>
            <a:r>
              <a:t>THE MULTI-TOUCH ATTRIBUTION (MTA) SOLUTION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Holistic Full-Funnel Valuation: Accounts for discovery (First-Touch), evaluation (Linear / Time-Decay), and transaction (Last-Touch).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Data-Driven Markov Chains: Calculates empirical removal effects by evaluating customer journey paths that convert vs those that drop out.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Objective Incrementality: Isolates true incremental contribution rather than arbitrary percentage rules (like 40-20-40).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Actionable Capital Reallocation: Directs marketing capital to channels with the highest marginal response rather than highest vanity clicks.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GRITO LABS | MARKETING ANALYTICS &amp; ATTRIBUTION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Methodology Spectrum: 6 Attribution Models Evaluated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  <a:gridCol w="2377440"/>
                <a:gridCol w="2926080"/>
                <a:gridCol w="2011680"/>
              </a:tblGrid>
              <a:tr h="6792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Weighting Logic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Core Weakness / Bias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Primary Use Case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First-Touch (FTA)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Rule-Based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100% to initial touchpoint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Rewards discovery; ignores nurture &amp; closing.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Awareness benchmarking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Last-Touch (LTA)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Rule-Based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100% to final touchpoint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Biased toward brand search &amp; direct; penalizes TOFU.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Legacy paid search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Linear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Rule-Based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Equal credit (1 / N) to all touches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Democratic; fails to reflect true touchpoint leverage.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Multi-touch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Time-Decay (7d)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Rule-Based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Exponential half-life: 2^(-dt / 7)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Favors recent touches; slightly discounts early ads.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Shorter consideration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U-Shaped (40-20-40)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Position-Based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40% First, 40% Last, 20% Middle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Balances discovery &amp; closing; penalizes middle touches.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General B2C e-commerce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B82F6"/>
                          </a:solidFill>
                        </a:defRPr>
                      </a:pPr>
                      <a:r>
                        <a:t>Markov Chain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Algorithmic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Removal Effect derived from state transitions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Statistically rigorous; evaluates converting &amp; drop paths.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Boardroom Capital Allocation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GRITO LABS | MARKETING ANALYTICS &amp; ATTRIBUTION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Algorithmic Rigor: Markov Removal Effects Explained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212080" cy="5029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F172A"/>
                </a:solidFill>
              </a:defRPr>
            </a:pPr>
            <a:r>
              <a:t>MATHEMATICAL FOUNDATION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1. State Representation:</a:t>
            </a:r>
            <a:br/>
            <a:r>
              <a:t>Every marketing channel represents a node in a stochastic Markov graph. Absorbing states are (Conversion) and (Drop-out).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2. Transition Probability Matrix P:</a:t>
            </a:r>
            <a:br/>
            <a:r>
              <a:t>P(i, j) = C(i, j) / Σ_k C(i, k), where C(i, j) represents total student transitions from channel i to channel j.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3. Baseline Conversion Probability:</a:t>
            </a:r>
            <a:br/>
            <a:r>
              <a:t>P(Conv) calculates total probability of transitioning from (Start) to (Conversion) across all existing paths.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4. Removal Effect Formula:</a:t>
            </a:r>
            <a:br/>
            <a:r>
              <a:t>RE(c) = [P(Conv) - P(Conv \ {c})] / P(Conv)</a:t>
            </a:r>
            <a:br/>
            <a:r>
              <a:t>Measures the percentage drop in total conversions when channel c is removed from the ecosystem.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5. Normalized Attribution Weight:</a:t>
            </a:r>
            <a:br/>
            <a:r>
              <a:t>W_Markov(c) = RE(c) / Σ_k RE(k)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280160"/>
            <a:ext cx="5212080" cy="5029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3B82F6"/>
                </a:solidFill>
              </a:defRPr>
            </a:pPr>
            <a:r>
              <a:t>EMPIRICAL REMOVAL EFFECTS FOR GRITO LABS</a:t>
            </a:r>
          </a:p>
          <a:p>
            <a:pPr>
              <a:spcAft>
                <a:spcPts val="600"/>
              </a:spcAft>
              <a:defRPr sz="1000" b="1">
                <a:solidFill>
                  <a:srgbClr val="10B981"/>
                </a:solidFill>
              </a:defRPr>
            </a:pPr>
            <a:r>
              <a:t>• Google Search: 0.4363  —  43.6% conversions lost if removed</a:t>
            </a:r>
          </a:p>
          <a:p>
            <a:pPr>
              <a:spcAft>
                <a:spcPts val="600"/>
              </a:spcAft>
              <a:defRPr sz="1000" b="1">
                <a:solidFill>
                  <a:srgbClr val="10B981"/>
                </a:solidFill>
              </a:defRPr>
            </a:pPr>
            <a:r>
              <a:t>• Meta Ads: 0.3832  —  38.3% conversions lost if removed</a:t>
            </a:r>
          </a:p>
          <a:p>
            <a:pPr>
              <a:spcAft>
                <a:spcPts val="600"/>
              </a:spcAft>
              <a:defRPr sz="1000" b="1">
                <a:solidFill>
                  <a:srgbClr val="10B981"/>
                </a:solidFill>
              </a:defRPr>
            </a:pPr>
            <a:r>
              <a:t>• Email Marketing: 0.2765  —  27.6% conversions lost if removed</a:t>
            </a:r>
          </a:p>
          <a:p>
            <a:pPr>
              <a:spcAft>
                <a:spcPts val="600"/>
              </a:spcAft>
              <a:defRPr sz="1000" b="1">
                <a:solidFill>
                  <a:srgbClr val="3B82F6"/>
                </a:solidFill>
              </a:defRPr>
            </a:pPr>
            <a:r>
              <a:t>• Organic Search: 0.2314  —  23.1% conversions lost if removed</a:t>
            </a:r>
          </a:p>
          <a:p>
            <a:pPr>
              <a:spcAft>
                <a:spcPts val="600"/>
              </a:spcAft>
              <a:defRPr sz="1000" b="1">
                <a:solidFill>
                  <a:srgbClr val="3B82F6"/>
                </a:solidFill>
              </a:defRPr>
            </a:pPr>
            <a:r>
              <a:t>• YouTube Ads: 0.1988  —  19.9% conversions lost if removed</a:t>
            </a:r>
          </a:p>
          <a:p>
            <a:pPr>
              <a:spcAft>
                <a:spcPts val="600"/>
              </a:spcAft>
              <a:defRPr sz="1000" b="1">
                <a:solidFill>
                  <a:srgbClr val="3B82F6"/>
                </a:solidFill>
              </a:defRPr>
            </a:pPr>
            <a:r>
              <a:t>• Referral &amp; Direct: 0.1665  —  16.7% conversions lost if removed</a:t>
            </a:r>
          </a:p>
          <a:p>
            <a:pPr>
              <a:spcAft>
                <a:spcPts val="600"/>
              </a:spcAft>
              <a:defRPr sz="1000" b="1">
                <a:solidFill>
                  <a:srgbClr val="F43F5E"/>
                </a:solidFill>
              </a:defRPr>
            </a:pPr>
            <a:r>
              <a:t>• LinkedIn Ads: 0.1130  —  11.3% conversions lost (Lowest leverage)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GRITO LABS | MARKETING ANALYTICS &amp; ATTRIBUTION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Model Comparison: Conversions &amp; Revenue by Channel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14400"/>
                <a:gridCol w="914400"/>
                <a:gridCol w="914400"/>
                <a:gridCol w="914400"/>
                <a:gridCol w="914400"/>
                <a:gridCol w="914400"/>
                <a:gridCol w="1005840"/>
                <a:gridCol w="1280160"/>
                <a:gridCol w="1280160"/>
              </a:tblGrid>
              <a:tr h="6172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Channel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Spend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First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Last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Linear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Decay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U-Shape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Markov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Markov Rev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Markov ROAS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Google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$82.0k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182.0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496.0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308.0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329.9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325.5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334.7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$395.2k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4.82x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Meta Ads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$85.8k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449.0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219.0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341.1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322.9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336.4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294.0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$347.1k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4.05x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YouTube 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$42.5k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317.0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40.0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163.7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144.4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172.1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152.5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$180.0k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4.24x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Email Marketing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$5.2k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302.0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235.7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256.4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188.7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212.0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$250.4k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47.98x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LinkedIn 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$47.5k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135.0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17.0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94.7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84.9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84.5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86.7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$102.3k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2.16x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Organic Search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$0.0k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246.0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127.0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161.5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153.2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175.3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177.5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$209.6k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Referral &amp; Direct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$0.0k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56.0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184.0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80.4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93.3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102.5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127.7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$150.8k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GRITO LABS | MARKETING ANALYTICS &amp; ATTRIBUTION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Channel Efficiency: Markov CAC vs ROAS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257800" cy="2423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8920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10B981"/>
                </a:solidFill>
              </a:defRPr>
            </a:pPr>
            <a:r>
              <a:t>SCALE ENGINES (High ROAS, Low/Moderate CAC)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Email Marketing: ROAS 47.98x | CAC $24.61</a:t>
            </a:r>
            <a:br/>
            <a:r>
              <a:t>  High conversion velocity, nurtures warm webinar and syllabus leads.</a:t>
            </a:r>
            <a:br/>
            <a:r>
              <a:t>• Google Search: ROAS 4.82x | CAC $245.03</a:t>
            </a:r>
            <a:br/>
            <a:r>
              <a:t>  Core high-intent demand harvesting pillar; captures active bootcamp searchers.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1280160"/>
            <a:ext cx="5257800" cy="2423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417320"/>
            <a:ext cx="48920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3B82F6"/>
                </a:solidFill>
              </a:defRPr>
            </a:pPr>
            <a:r>
              <a:t>DISCOVERY DRIVERS (Moderate ROAS, High Pipeline Value)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YouTube Ads: ROAS 4.24x | CAC $278.49</a:t>
            </a:r>
            <a:br/>
            <a:r>
              <a:t>  Originates 317 prospective student journeys; tutorial lead magnets.</a:t>
            </a:r>
            <a:br/>
            <a:r>
              <a:t>• Meta Ads: ROAS 4.05x | CAC $291.76</a:t>
            </a:r>
            <a:br/>
            <a:r>
              <a:t>  Massive reach (2.6M impressions); salary jump student testimonials.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886200"/>
            <a:ext cx="5257800" cy="2423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48920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F43F5E"/>
                </a:solidFill>
              </a:defRPr>
            </a:pPr>
            <a:r>
              <a:t>CAPITAL BLEEDER (High CAC, Marginal ROAS)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LinkedIn Ads: ROAS 2.16x | CAC $547.62</a:t>
            </a:r>
            <a:br/>
            <a:r>
              <a:t>  Excessive CPC ($7.40) creates steep unit economics; 40% of spend generates only 86 enrollments. Must be restructured or pruned.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3886200"/>
            <a:ext cx="5257800" cy="2423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023360"/>
            <a:ext cx="48920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1E293B"/>
                </a:solidFill>
              </a:defRPr>
            </a:pPr>
            <a:r>
              <a:t>ORGANIC FOUNDATION (Zero Paid CAC)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Organic Search &amp; SEO: 177.5 Markov Conversions ($209.6k revenue)</a:t>
            </a:r>
            <a:br/>
            <a:r>
              <a:t>  RCA case studies and SQL interview prep content drive organic authority.</a:t>
            </a:r>
            <a:br/>
            <a:r>
              <a:t>• Alumni Referrals: 127.7 Markov Conversions ($150.8k revenue)</a:t>
            </a:r>
            <a:br/>
            <a:r>
              <a:t>  Strong student satisfaction (NPS 9.1) delivers zero-acquisition-cost enrollments.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GRITO LABS | MARKETING ANALYTICS &amp; ATTRIBUTION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Customer Journey Pathology: High-Impact Conversion Paths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731520"/>
                <a:gridCol w="1005840"/>
                <a:gridCol w="1005840"/>
                <a:gridCol w="914400"/>
                <a:gridCol w="1097280"/>
                <a:gridCol w="2468880"/>
              </a:tblGrid>
              <a:tr h="70539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Journey Path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Touches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Prospects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Enrollments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CVR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Path Strategic Interpretation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Meta Ads &gt; Email Marketing &gt; Google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412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148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35.9%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$175.2k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Highest volume converting path (Classic discovery &gt; nurture &gt; closing)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YouTube Ads &gt; Meta Ads &gt; Email Marketing &gt; Google Search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328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122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37.2%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$144.5k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Comprehensive 4-touch journey; highest revenue velocity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Organic Search &gt; Email Marketing &gt; Google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295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35.6%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$124.8k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High-efficiency hybrid organic-paid sequence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YouTube Ads &gt; Email Marketing &gt; Referral &amp; Direct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210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37.1%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$92.4k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Bootcamp lead magnet to alumni advocacy path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Google Search (Single Touch / High Intent)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17.9%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$80.5k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Direct intent; lower conversion rate due to sticker shock without nurture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LinkedIn Ads &gt; Google Search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240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13.3%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$38.0k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Underperforming 2-touch enterprise journey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GRITO LABS | MARKETING ANALYTICS &amp; ATTRIBUTION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Campaign Audit: Spend Waste, Fatigue, and Cannibalization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468880"/>
                <a:gridCol w="1005840"/>
                <a:gridCol w="914400"/>
                <a:gridCol w="914400"/>
                <a:gridCol w="1005840"/>
                <a:gridCol w="2743200"/>
              </a:tblGrid>
              <a:tr h="70539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Campaign 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Campaign Name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Spend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CTR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CPC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ROAS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Audit Finding &amp; Action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GS_Brand_Defense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Google Ads - Grito Labs Brand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$13.6k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12.5%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$1.25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10.4x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Maintain (Essential defense against competitors)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Meta_Feed_CareerTransition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0B981"/>
                          </a:solidFill>
                        </a:defRPr>
                      </a:pPr>
                      <a:r>
                        <a:t>Meta - Career Switcher Video Stories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0B981"/>
                          </a:solidFill>
                        </a:defRPr>
                      </a:pPr>
                      <a:r>
                        <a:t>$38.2k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0B981"/>
                          </a:solidFill>
                        </a:defRPr>
                      </a:pPr>
                      <a:r>
                        <a:t>1.9%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0B981"/>
                          </a:solidFill>
                        </a:defRPr>
                      </a:pPr>
                      <a:r>
                        <a:t>$1.45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4.6x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Scale (+25%; core awareness powerhouse)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Email_Webinar_Masterclass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0B981"/>
                          </a:solidFill>
                        </a:defRPr>
                      </a:pPr>
                      <a:r>
                        <a:t>Email - Live Weekend Workshop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0B981"/>
                          </a:solidFill>
                        </a:defRPr>
                      </a:pPr>
                      <a:r>
                        <a:t>$2.8k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0B981"/>
                          </a:solidFill>
                        </a:defRPr>
                      </a:pPr>
                      <a:r>
                        <a:t>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0B981"/>
                          </a:solidFill>
                        </a:defRPr>
                      </a:pPr>
                      <a:r>
                        <a:t>$0.12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52.1x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Scale (+45%; primary lead closing event)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YT_Tutorial_SQLCrash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0B981"/>
                          </a:solidFill>
                        </a:defRPr>
                      </a:pPr>
                      <a:r>
                        <a:t>YouTube - Free SQL Masterclass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0B981"/>
                          </a:solidFill>
                        </a:defRPr>
                      </a:pPr>
                      <a:r>
                        <a:t>$23.5k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0B981"/>
                          </a:solidFill>
                        </a:defRPr>
                      </a:pPr>
                      <a:r>
                        <a:t>2.1%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0B981"/>
                          </a:solidFill>
                        </a:defRPr>
                      </a:pPr>
                      <a:r>
                        <a:t>$0.95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4.5x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Scale (+20%; high intent technical leads)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43F5E"/>
                          </a:solidFill>
                        </a:defRPr>
                      </a:pPr>
                      <a:r>
                        <a:t>GS_Competitor_Conquest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43F5E"/>
                          </a:solidFill>
                        </a:defRPr>
                      </a:pPr>
                      <a:r>
                        <a:t>Google - Competitor Conquesting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43F5E"/>
                          </a:solidFill>
                        </a:defRPr>
                      </a:pPr>
                      <a:r>
                        <a:t>$19.8k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43F5E"/>
                          </a:solidFill>
                        </a:defRPr>
                      </a:pPr>
                      <a: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43F5E"/>
                          </a:solidFill>
                        </a:defRPr>
                      </a:pPr>
                      <a:r>
                        <a:t>$4.10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43F5E"/>
                          </a:solidFill>
                        </a:defRPr>
                      </a:pPr>
                      <a:r>
                        <a:t>1.9x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43F5E"/>
                          </a:solidFill>
                        </a:defRPr>
                      </a:pPr>
                      <a:r>
                        <a:t>Cut (-35%; excessive CPC and low conversion)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43F5E"/>
                          </a:solidFill>
                        </a:defRPr>
                      </a:pPr>
                      <a:r>
                        <a:t>LI_Sponsored_DataCareer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43F5E"/>
                          </a:solidFill>
                        </a:defRPr>
                      </a:pPr>
                      <a:r>
                        <a:t>LinkedIn - Working Pro Upskilling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43F5E"/>
                          </a:solidFill>
                        </a:defRPr>
                      </a:pPr>
                      <a:r>
                        <a:t>$31.8k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43F5E"/>
                          </a:solidFill>
                        </a:defRPr>
                      </a:pPr>
                      <a:r>
                        <a:t>1.2%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43F5E"/>
                          </a:solidFill>
                        </a:defRPr>
                      </a:pPr>
                      <a:r>
                        <a:t>$7.50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43F5E"/>
                          </a:solidFill>
                        </a:defRPr>
                      </a:pPr>
                      <a:r>
                        <a:t>2.1x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43F5E"/>
                          </a:solidFill>
                        </a:defRPr>
                      </a:pPr>
                      <a:r>
                        <a:t>Cut (-40%; unsustainable unit economics)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GRITO LABS | MARKETING ANALYTICS &amp; ATTRIBUTION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Customer Lifetime Value (LTV) &amp; Post-Enrollment Retention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47472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3291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EMPIRICAL 12M LTV</a:t>
            </a:r>
          </a:p>
          <a:p>
            <a:pPr>
              <a:defRPr sz="1800" b="1">
                <a:solidFill>
                  <a:srgbClr val="1E293B"/>
                </a:solidFill>
              </a:defRPr>
            </a:pPr>
            <a:r>
              <a:t>$1,304.50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Initial Tuition + Upsell Revenue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1280160"/>
            <a:ext cx="347472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1371600"/>
            <a:ext cx="3291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CAPSTONE COMPLETION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84.2%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Core Metric Driving Student Advocacy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80" y="1280160"/>
            <a:ext cx="347472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371600"/>
            <a:ext cx="3291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ALUMNI REFERRAL RATE</a:t>
            </a:r>
          </a:p>
          <a:p>
            <a:pPr>
              <a:defRPr sz="1800" b="1">
                <a:solidFill>
                  <a:srgbClr val="3B82F6"/>
                </a:solidFill>
              </a:defRPr>
            </a:pPr>
            <a:r>
              <a:t>0.38 Referrals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Per Enrolled Student (NPS: 9.1)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2743200"/>
          <a:ext cx="106984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05840"/>
                <a:gridCol w="1188720"/>
                <a:gridCol w="1005840"/>
                <a:gridCol w="914400"/>
                <a:gridCol w="1097280"/>
                <a:gridCol w="1005840"/>
                <a:gridCol w="1188720"/>
                <a:gridCol w="1645920"/>
              </a:tblGrid>
              <a:tr h="509451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Acquisition Channel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Students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Initial Tuition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Completion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NPS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Upsell Rate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Referrals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12M LTV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LTV:CAC Health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Organic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246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$1,207.74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86.2%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9.07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22.8%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0.44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$1,310.18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5.3x LTV:CAC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YouTube Ads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317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$1,183.00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84.5%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9.15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21.5%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0.38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$1,279.75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4.6x LTV:CAC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Meta 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449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$1,168.94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83.7%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9.08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19.6%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0.36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$1,257.13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4.3x LTV:CAC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Google Search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182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$1,175.69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83.0%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9.05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20.9%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0.37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$1,269.78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5.2x LTV:CAC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LinkedIn 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$1,191.67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84.4%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9.12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20.7%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0.39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$1,285.00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43F5E"/>
                          </a:solidFill>
                        </a:defRPr>
                      </a:pPr>
                      <a:r>
                        <a:t>2.3x LTV:CAC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9454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Referral &amp; Direct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$1,134.51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85.7%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9.21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25.0%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0.46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$1,247.01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Inf (Zero CAC)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GRITO LABS | MARKETING ANALYTICS &amp; ATTRIBUTION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Capital Allocation: The Hill-Markov Reallocation Plan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1188720"/>
                <a:gridCol w="1188720"/>
                <a:gridCol w="914400"/>
                <a:gridCol w="1005840"/>
                <a:gridCol w="1005840"/>
                <a:gridCol w="2651760"/>
              </a:tblGrid>
              <a:tr h="6553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Channel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Current Spend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Optimized Spend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Budget Shift ($)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Shift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Current Conv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Projected Conv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Strategic Rationale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LinkedIn 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$47,451.14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$28,470.68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43F5E"/>
                          </a:solidFill>
                        </a:defRPr>
                      </a:pPr>
                      <a:r>
                        <a:t>-$18,980.46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43F5E"/>
                          </a:solidFill>
                        </a:defRPr>
                      </a:pPr>
                      <a:r>
                        <a:t>-40.0%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86.7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63.8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Eliminate high CPC bid waste ($7.50); prune conquesting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Email Marketing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$5,218.13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$7,827.20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+$2,609.07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+50.0%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212.0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268.4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Scale automated drip sequences and webinar promos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YouTube 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$42,456.05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$53,070.06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+$10,614.01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+25.0%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152.5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176.9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Expand SQL crash courses &amp; alumni showcase 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Google Search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$82,007.20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$89,387.85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+$7,380.65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+9.0%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334.7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352.1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Protect brand defense; capture high intent bootcamp queries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Meta 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$85,764.16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$84,140.89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43F5E"/>
                          </a:solidFill>
                        </a:defRPr>
                      </a:pPr>
                      <a:r>
                        <a:t>-$1,623.27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43F5E"/>
                          </a:solidFill>
                        </a:defRPr>
                      </a:pPr>
                      <a:r>
                        <a:t>-1.9%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294.0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291.8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Reallocate toward highest performing Reels &amp; Lookalikes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" y="5394960"/>
            <a:ext cx="10698480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B82F6"/>
                </a:solidFill>
              </a:defRPr>
            </a:pPr>
            <a:r>
              <a:t>NET OPTIMIZATION IMPACT SUMMARY:  +$74,941.99 Net Tuition Revenue | +63.5 Incremental Enrolled Students | 0% Increase in Budget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By curbing LinkedIn's CAC overspend and financing mid-funnel email automation and YouTube discovery, Grito Labs boosts blended marketing efficiency by +5.88%.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GRITO LABS | MARKETING ANALYTICS &amp; ATTRIBUTION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Sensitivity Analysis: Tracking Privacy &amp; Incrementality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</a:defRPr>
            </a:pPr>
            <a:r>
              <a:t>iOS 14.5+ ATT &amp; Cookie Deprecation Impact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Apple's App Tracking Transparency and third-party cookie deprecation obscure 15-25% of mobile touchpoints. Grito Labs mitigates this via first-party server-side tracking (CAPI) and persistent hashed user IDs tied to free syllabus downloads and email registrations.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017520"/>
            <a:ext cx="1069848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10332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</a:defRPr>
            </a:pPr>
            <a:r>
              <a:t>Attribution Lookback Window Sensitivity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A 30-day lookback window captures 92% of all consideration cycles. Testing a 60-day window increases YouTube and Organic Search credit by +8.4%, reinforcing that awareness channels possess long conversion gestation periods that single-touch models completely miss.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663440"/>
            <a:ext cx="1069848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00600"/>
            <a:ext cx="10332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</a:defRPr>
            </a:pPr>
            <a:r>
              <a:t>Quasi-Experimental Incrementality Testing (Geo-Holdouts)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Attribution models measure correlation, not pure causation. We recommend conducting 30-day regional geo-holdout tests on Google Search Brand Defense to verify organic search cannibalization and isolate pure incrementality.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GRITO LABS | MARKETING ANALYTICS &amp; ATTRIBUTION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Action Plan: 90-Day Implementation &amp; Governance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474720" cy="5029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310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50" b="1">
                <a:solidFill>
                  <a:srgbClr val="F43F5E"/>
                </a:solidFill>
              </a:defRPr>
            </a:pPr>
            <a:r>
              <a:t>DAYS 1 - 30: REBALANCE &amp; TRUNCATE WASTE</a:t>
            </a:r>
          </a:p>
          <a:p>
            <a:pPr>
              <a:spcAft>
                <a:spcPts val="1000"/>
              </a:spcAft>
              <a:defRPr sz="950">
                <a:solidFill>
                  <a:srgbClr val="1E293B"/>
                </a:solidFill>
              </a:defRPr>
            </a:pPr>
            <a:r>
              <a:t>• Cut LinkedIn Ads spend by -40% (save ~$6.3k/mo); eliminate low-intent broad match targeting.</a:t>
            </a:r>
          </a:p>
          <a:p>
            <a:pPr>
              <a:spcAft>
                <a:spcPts val="1000"/>
              </a:spcAft>
              <a:defRPr sz="950">
                <a:solidFill>
                  <a:srgbClr val="1E293B"/>
                </a:solidFill>
              </a:defRPr>
            </a:pPr>
            <a:r>
              <a:t>• Cap Google Ads competitor conquesting; divert budget to Google Brand Defense.</a:t>
            </a:r>
          </a:p>
          <a:p>
            <a:pPr>
              <a:spcAft>
                <a:spcPts val="1000"/>
              </a:spcAft>
              <a:defRPr sz="950">
                <a:solidFill>
                  <a:srgbClr val="1E293B"/>
                </a:solidFill>
              </a:defRPr>
            </a:pPr>
            <a:r>
              <a:t>• Audit UTM parameter hygiene across all Meta Reels, YouTube descriptions, and email campaigns.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1280160"/>
            <a:ext cx="3474720" cy="5029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463040"/>
            <a:ext cx="310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50" b="1">
                <a:solidFill>
                  <a:srgbClr val="3B82F6"/>
                </a:solidFill>
              </a:defRPr>
            </a:pPr>
            <a:r>
              <a:t>DAYS 31 - 60: SCALE ENABLERS &amp; AUTOMATION</a:t>
            </a:r>
          </a:p>
          <a:p>
            <a:pPr>
              <a:spcAft>
                <a:spcPts val="1000"/>
              </a:spcAft>
              <a:defRPr sz="950">
                <a:solidFill>
                  <a:srgbClr val="1E293B"/>
                </a:solidFill>
              </a:defRPr>
            </a:pPr>
            <a:r>
              <a:t>• Expand Email Marketing automation by +50%; launch dedicated 5-day RCA case study drip series.</a:t>
            </a:r>
          </a:p>
          <a:p>
            <a:pPr>
              <a:spcAft>
                <a:spcPts val="1000"/>
              </a:spcAft>
              <a:defRPr sz="950">
                <a:solidFill>
                  <a:srgbClr val="1E293B"/>
                </a:solidFill>
              </a:defRPr>
            </a:pPr>
            <a:r>
              <a:t>• Increase YouTube Ads budget by +25% targeting free SQL crash course lead magnets.</a:t>
            </a:r>
          </a:p>
          <a:p>
            <a:pPr>
              <a:spcAft>
                <a:spcPts val="1000"/>
              </a:spcAft>
              <a:defRPr sz="950">
                <a:solidFill>
                  <a:srgbClr val="1E293B"/>
                </a:solidFill>
              </a:defRPr>
            </a:pPr>
            <a:r>
              <a:t>• Deploy server-side Conversion APIs (Meta CAPI &amp; Google Enhanced Conversions) to bypass cookie loss.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80" y="1280160"/>
            <a:ext cx="3474720" cy="5029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463040"/>
            <a:ext cx="310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50" b="1">
                <a:solidFill>
                  <a:srgbClr val="10B981"/>
                </a:solidFill>
              </a:defRPr>
            </a:pPr>
            <a:r>
              <a:t>DAYS 61 - 90: INCREMENTALITY &amp; ALUMNI ADVOCACY</a:t>
            </a:r>
          </a:p>
          <a:p>
            <a:pPr>
              <a:spcAft>
                <a:spcPts val="1000"/>
              </a:spcAft>
              <a:defRPr sz="950">
                <a:solidFill>
                  <a:srgbClr val="1E293B"/>
                </a:solidFill>
              </a:defRPr>
            </a:pPr>
            <a:r>
              <a:t>• Run 30-day geo-matched holdout test on Google Brand Search to measure true cannibalization.</a:t>
            </a:r>
          </a:p>
          <a:p>
            <a:pPr>
              <a:spcAft>
                <a:spcPts val="1000"/>
              </a:spcAft>
              <a:defRPr sz="950">
                <a:solidFill>
                  <a:srgbClr val="1E293B"/>
                </a:solidFill>
              </a:defRPr>
            </a:pPr>
            <a:r>
              <a:t>• Formalize the Alumni Referral Engine ($100 tuition voucher per qualified student referral).</a:t>
            </a:r>
          </a:p>
          <a:p>
            <a:pPr>
              <a:spcAft>
                <a:spcPts val="1000"/>
              </a:spcAft>
              <a:defRPr sz="950">
                <a:solidFill>
                  <a:srgbClr val="1E293B"/>
                </a:solidFill>
              </a:defRPr>
            </a:pPr>
            <a:r>
              <a:t>• Transition executive reporting from Last-Touch Attribution to Markov Algorithmic MTA Dashboard.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